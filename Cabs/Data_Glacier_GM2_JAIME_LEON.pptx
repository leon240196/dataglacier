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8" r:id="rId2"/>
    <p:sldId id="259" r:id="rId3"/>
    <p:sldId id="261" r:id="rId4"/>
    <p:sldId id="262" r:id="rId5"/>
    <p:sldId id="263" r:id="rId6"/>
    <p:sldId id="264" r:id="rId7"/>
    <p:sldId id="265" r:id="rId8"/>
    <p:sldId id="270" r:id="rId9"/>
    <p:sldId id="266" r:id="rId10"/>
    <p:sldId id="267" r:id="rId11"/>
    <p:sldId id="268" r:id="rId12"/>
    <p:sldId id="269"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362" autoAdjust="0"/>
    <p:restoredTop sz="96327"/>
  </p:normalViewPr>
  <p:slideViewPr>
    <p:cSldViewPr snapToGrid="0">
      <p:cViewPr>
        <p:scale>
          <a:sx n="90" d="100"/>
          <a:sy n="90" d="100"/>
        </p:scale>
        <p:origin x="680" y="1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3/7/21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4339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Confusing fact and opinion</a:t>
            </a:r>
          </a:p>
          <a:p>
            <a:pPr marL="171450" indent="-171450">
              <a:buFont typeface="Arial" panose="020B0604020202020204" pitchFamily="34" charset="0"/>
              <a:buChar char="•"/>
            </a:pPr>
            <a:r>
              <a:rPr lang="en-US" dirty="0"/>
              <a:t>Cognitive biases</a:t>
            </a:r>
          </a:p>
          <a:p>
            <a:pPr marL="171450" indent="-171450">
              <a:buFont typeface="Arial" panose="020B0604020202020204" pitchFamily="34" charset="0"/>
              <a:buChar char="•"/>
            </a:pPr>
            <a:r>
              <a:rPr lang="en-US" dirty="0"/>
              <a:t>Innumeracy</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567858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Smart buildings</a:t>
            </a:r>
          </a:p>
          <a:p>
            <a:pPr marL="171450" indent="-171450">
              <a:buFont typeface="Arial" panose="020B0604020202020204" pitchFamily="34" charset="0"/>
              <a:buChar char="•"/>
            </a:pPr>
            <a:r>
              <a:rPr lang="en-US" dirty="0"/>
              <a:t>Analytics and business intelligence</a:t>
            </a:r>
          </a:p>
          <a:p>
            <a:pPr marL="171450" indent="-171450">
              <a:buFont typeface="Arial" panose="020B0604020202020204" pitchFamily="34" charset="0"/>
              <a:buChar char="•"/>
            </a:pPr>
            <a:r>
              <a:rPr lang="en-US" dirty="0"/>
              <a:t>Education</a:t>
            </a:r>
          </a:p>
        </p:txBody>
      </p:sp>
      <p:sp>
        <p:nvSpPr>
          <p:cNvPr id="4" name="Slide Number Placeholder 3"/>
          <p:cNvSpPr>
            <a:spLocks noGrp="1"/>
          </p:cNvSpPr>
          <p:nvPr>
            <p:ph type="sldNum" sz="quarter" idx="10"/>
          </p:nvPr>
        </p:nvSpPr>
        <p:spPr/>
        <p:txBody>
          <a:bodyPr/>
          <a:lstStyle/>
          <a:p>
            <a:fld id="{E0746DE6-3336-457D-A091-FA20AC1C536E}" type="slidenum">
              <a:rPr lang="en-US" smtClean="0"/>
              <a:t>7</a:t>
            </a:fld>
            <a:endParaRPr lang="en-US"/>
          </a:p>
        </p:txBody>
      </p:sp>
    </p:spTree>
    <p:extLst>
      <p:ext uri="{BB962C8B-B14F-4D97-AF65-F5344CB8AC3E}">
        <p14:creationId xmlns:p14="http://schemas.microsoft.com/office/powerpoint/2010/main" val="1338386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Initial data analysis</a:t>
            </a:r>
          </a:p>
          <a:p>
            <a:pPr marL="171450" indent="-171450">
              <a:buFont typeface="Arial" panose="020B0604020202020204" pitchFamily="34" charset="0"/>
              <a:buChar char="•"/>
            </a:pPr>
            <a:r>
              <a:rPr lang="en-US" dirty="0"/>
              <a:t>Main data analysis</a:t>
            </a:r>
          </a:p>
        </p:txBody>
      </p:sp>
      <p:sp>
        <p:nvSpPr>
          <p:cNvPr id="4" name="Slide Number Placeholder 3"/>
          <p:cNvSpPr>
            <a:spLocks noGrp="1"/>
          </p:cNvSpPr>
          <p:nvPr>
            <p:ph type="sldNum" sz="quarter" idx="10"/>
          </p:nvPr>
        </p:nvSpPr>
        <p:spPr/>
        <p:txBody>
          <a:bodyPr/>
          <a:lstStyle/>
          <a:p>
            <a:fld id="{E0746DE6-3336-457D-A091-FA20AC1C536E}" type="slidenum">
              <a:rPr lang="en-US" smtClean="0"/>
              <a:t>9</a:t>
            </a:fld>
            <a:endParaRPr lang="en-US"/>
          </a:p>
        </p:txBody>
      </p:sp>
    </p:spTree>
    <p:extLst>
      <p:ext uri="{BB962C8B-B14F-4D97-AF65-F5344CB8AC3E}">
        <p14:creationId xmlns:p14="http://schemas.microsoft.com/office/powerpoint/2010/main" val="2108914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3/7/21</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129857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anvas.instructure.com/courses/2548583/modules/items/42834121"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LEON240196/DataGlacier/blob/main/Cabs/Cabs_project.ipyn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fontScale="90000"/>
          </a:bodyPr>
          <a:lstStyle/>
          <a:p>
            <a:r>
              <a:rPr lang="en-US" b="1" dirty="0">
                <a:solidFill>
                  <a:schemeClr val="bg1"/>
                </a:solidFill>
                <a:hlinkClick r:id="rId3" tooltip="G2M insight for Cab Investment firm ( Must for all Specialization) ">
                  <a:extLst>
                    <a:ext uri="{A12FA001-AC4F-418D-AE19-62706E023703}">
                      <ahyp:hlinkClr xmlns:ahyp="http://schemas.microsoft.com/office/drawing/2018/hyperlinkcolor" val="tx"/>
                    </a:ext>
                  </a:extLst>
                </a:hlinkClick>
              </a:rPr>
              <a:t>G2M insight for Cab Investment firm</a:t>
            </a:r>
            <a:endParaRPr lang="en-US" dirty="0">
              <a:solidFill>
                <a:schemeClr val="bg1"/>
              </a:solidFill>
            </a:endParaRPr>
          </a:p>
        </p:txBody>
      </p:sp>
      <p:sp>
        <p:nvSpPr>
          <p:cNvPr id="3" name="Content Placeholder 2"/>
          <p:cNvSpPr>
            <a:spLocks noGrp="1"/>
          </p:cNvSpPr>
          <p:nvPr>
            <p:ph type="subTitle" idx="1"/>
          </p:nvPr>
        </p:nvSpPr>
        <p:spPr>
          <a:xfrm>
            <a:off x="3045368" y="4074718"/>
            <a:ext cx="6105194" cy="682079"/>
          </a:xfrm>
        </p:spPr>
        <p:txBody>
          <a:bodyPr>
            <a:normAutofit fontScale="85000" lnSpcReduction="20000"/>
          </a:bodyPr>
          <a:lstStyle/>
          <a:p>
            <a:r>
              <a:rPr lang="en-US" dirty="0">
                <a:solidFill>
                  <a:srgbClr val="FFFFFF"/>
                </a:solidFill>
              </a:rPr>
              <a:t>Virtual Internship 2021</a:t>
            </a:r>
          </a:p>
          <a:p>
            <a:r>
              <a:rPr lang="en-US" dirty="0">
                <a:solidFill>
                  <a:srgbClr val="FFFFFF"/>
                </a:solidFill>
              </a:rPr>
              <a:t>Jaime Leon</a:t>
            </a:r>
            <a:endParaRPr dirty="0">
              <a:solidFill>
                <a:srgbClr val="FFFFFF"/>
              </a:solidFill>
            </a:endParaRPr>
          </a:p>
        </p:txBody>
      </p:sp>
    </p:spTree>
    <p:extLst>
      <p:ext uri="{BB962C8B-B14F-4D97-AF65-F5344CB8AC3E}">
        <p14:creationId xmlns:p14="http://schemas.microsoft.com/office/powerpoint/2010/main" val="2069820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Contents</a:t>
            </a:r>
          </a:p>
        </p:txBody>
      </p:sp>
      <p:sp>
        <p:nvSpPr>
          <p:cNvPr id="3" name="Content Placeholder 2"/>
          <p:cNvSpPr>
            <a:spLocks noGrp="1"/>
          </p:cNvSpPr>
          <p:nvPr>
            <p:ph type="body" idx="1"/>
          </p:nvPr>
        </p:nvSpPr>
        <p:spPr>
          <a:xfrm>
            <a:off x="4810259" y="649480"/>
            <a:ext cx="6555347" cy="5546047"/>
          </a:xfrm>
        </p:spPr>
        <p:txBody>
          <a:bodyPr anchor="ctr">
            <a:normAutofit/>
          </a:bodyPr>
          <a:lstStyle/>
          <a:p>
            <a:r>
              <a:rPr lang="en-US" sz="2000"/>
              <a:t>The process of data analysis</a:t>
            </a:r>
          </a:p>
          <a:p>
            <a:r>
              <a:rPr lang="en-US" sz="2000"/>
              <a:t>Quantitative messages</a:t>
            </a:r>
          </a:p>
          <a:p>
            <a:r>
              <a:rPr lang="en-US" sz="2000"/>
              <a:t>Techniques for analyzing quantitative data</a:t>
            </a:r>
          </a:p>
          <a:p>
            <a:r>
              <a:rPr lang="en-US" sz="2000"/>
              <a:t>Analytical activities of data users</a:t>
            </a:r>
          </a:p>
          <a:p>
            <a:r>
              <a:rPr lang="en-US" sz="2000"/>
              <a:t>Barriers to effective analysis</a:t>
            </a:r>
          </a:p>
          <a:p>
            <a:r>
              <a:rPr lang="en-US" sz="2000"/>
              <a:t>Other topics</a:t>
            </a:r>
          </a:p>
          <a:p>
            <a:r>
              <a:rPr lang="en-US" sz="2000"/>
              <a:t>Practitioner notes</a:t>
            </a:r>
          </a:p>
          <a:p>
            <a:r>
              <a:rPr lang="en-US" sz="2000"/>
              <a:t>Free software for data analysis</a:t>
            </a:r>
          </a:p>
          <a:p>
            <a:r>
              <a:rPr lang="en-US" sz="2000"/>
              <a:t>International data analysis contests</a:t>
            </a:r>
          </a:p>
        </p:txBody>
      </p:sp>
    </p:spTree>
    <p:extLst>
      <p:ext uri="{BB962C8B-B14F-4D97-AF65-F5344CB8AC3E}">
        <p14:creationId xmlns:p14="http://schemas.microsoft.com/office/powerpoint/2010/main" val="1130047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46746" y="586822"/>
            <a:ext cx="3560252" cy="1645920"/>
          </a:xfrm>
        </p:spPr>
        <p:txBody>
          <a:bodyPr>
            <a:normAutofit/>
          </a:bodyPr>
          <a:lstStyle/>
          <a:p>
            <a:r>
              <a:rPr lang="en-US" sz="3200"/>
              <a:t>Data Exploration</a:t>
            </a:r>
          </a:p>
        </p:txBody>
      </p:sp>
      <p:sp>
        <p:nvSpPr>
          <p:cNvPr id="30" name="Rectangle 29">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2" name="Rectangle 31">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5351164" y="586822"/>
            <a:ext cx="6002636" cy="1645920"/>
          </a:xfrm>
        </p:spPr>
        <p:txBody>
          <a:bodyPr anchor="ctr">
            <a:normAutofit fontScale="92500" lnSpcReduction="10000"/>
          </a:bodyPr>
          <a:lstStyle/>
          <a:p>
            <a:r>
              <a:rPr lang="en-US" dirty="0"/>
              <a:t>19 Features</a:t>
            </a:r>
          </a:p>
          <a:p>
            <a:r>
              <a:rPr lang="en-US" dirty="0"/>
              <a:t>Timeframe of the data: 2016-01-31 to 2018-12-31</a:t>
            </a:r>
          </a:p>
          <a:p>
            <a:r>
              <a:rPr lang="en-US" dirty="0"/>
              <a:t>Total data points: 359392 </a:t>
            </a:r>
          </a:p>
        </p:txBody>
      </p:sp>
      <p:pic>
        <p:nvPicPr>
          <p:cNvPr id="4" name="Picture 3" descr="Text&#10;&#10;Description automatically generated">
            <a:extLst>
              <a:ext uri="{FF2B5EF4-FFF2-40B4-BE49-F238E27FC236}">
                <a16:creationId xmlns:a16="http://schemas.microsoft.com/office/drawing/2014/main" id="{FAAA4ADD-6726-2B46-BD1A-8E684C50E513}"/>
              </a:ext>
            </a:extLst>
          </p:cNvPr>
          <p:cNvPicPr>
            <a:picLocks noChangeAspect="1"/>
          </p:cNvPicPr>
          <p:nvPr/>
        </p:nvPicPr>
        <p:blipFill>
          <a:blip r:embed="rId2"/>
          <a:stretch>
            <a:fillRect/>
          </a:stretch>
        </p:blipFill>
        <p:spPr>
          <a:xfrm>
            <a:off x="996858" y="2734056"/>
            <a:ext cx="10286675" cy="3483864"/>
          </a:xfrm>
          <a:prstGeom prst="rect">
            <a:avLst/>
          </a:prstGeom>
        </p:spPr>
      </p:pic>
    </p:spTree>
    <p:extLst>
      <p:ext uri="{BB962C8B-B14F-4D97-AF65-F5344CB8AC3E}">
        <p14:creationId xmlns:p14="http://schemas.microsoft.com/office/powerpoint/2010/main" val="3471405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Flowchart: Document 2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Profit Analysis</a:t>
            </a:r>
          </a:p>
        </p:txBody>
      </p:sp>
      <p:pic>
        <p:nvPicPr>
          <p:cNvPr id="4" name="Content Placeholder 3">
            <a:extLst>
              <a:ext uri="{FF2B5EF4-FFF2-40B4-BE49-F238E27FC236}">
                <a16:creationId xmlns:a16="http://schemas.microsoft.com/office/drawing/2014/main" id="{76F5E57D-9BDD-EE4F-AFF6-E2778AD4FA9D}"/>
              </a:ext>
            </a:extLst>
          </p:cNvPr>
          <p:cNvPicPr>
            <a:picLocks noGrp="1" noChangeAspect="1"/>
          </p:cNvPicPr>
          <p:nvPr>
            <p:ph idx="1"/>
          </p:nvPr>
        </p:nvPicPr>
        <p:blipFill>
          <a:blip r:embed="rId2"/>
          <a:stretch>
            <a:fillRect/>
          </a:stretch>
        </p:blipFill>
        <p:spPr>
          <a:xfrm>
            <a:off x="4207933" y="670080"/>
            <a:ext cx="7347537" cy="5518816"/>
          </a:xfrm>
          <a:prstGeom prst="rect">
            <a:avLst/>
          </a:prstGeom>
        </p:spPr>
      </p:pic>
      <p:sp>
        <p:nvSpPr>
          <p:cNvPr id="5" name="TextBox 4">
            <a:extLst>
              <a:ext uri="{FF2B5EF4-FFF2-40B4-BE49-F238E27FC236}">
                <a16:creationId xmlns:a16="http://schemas.microsoft.com/office/drawing/2014/main" id="{9773BD41-B803-4C43-A045-0C70381DBBBF}"/>
              </a:ext>
            </a:extLst>
          </p:cNvPr>
          <p:cNvSpPr txBox="1"/>
          <p:nvPr/>
        </p:nvSpPr>
        <p:spPr>
          <a:xfrm>
            <a:off x="950495" y="3693695"/>
            <a:ext cx="2935705" cy="1477328"/>
          </a:xfrm>
          <a:prstGeom prst="rect">
            <a:avLst/>
          </a:prstGeom>
          <a:noFill/>
        </p:spPr>
        <p:txBody>
          <a:bodyPr wrap="square" rtlCol="0">
            <a:spAutoFit/>
          </a:bodyPr>
          <a:lstStyle/>
          <a:p>
            <a:r>
              <a:rPr lang="en-US" dirty="0"/>
              <a:t>We can see clearly that Yellow Cab  Company has more than double the  Average profit per km from 2016 to 2018</a:t>
            </a:r>
          </a:p>
        </p:txBody>
      </p:sp>
    </p:spTree>
    <p:extLst>
      <p:ext uri="{BB962C8B-B14F-4D97-AF65-F5344CB8AC3E}">
        <p14:creationId xmlns:p14="http://schemas.microsoft.com/office/powerpoint/2010/main" val="285675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Flowchart: Document 2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000" kern="1200">
                <a:solidFill>
                  <a:srgbClr val="FFFFFF"/>
                </a:solidFill>
                <a:latin typeface="+mj-lt"/>
                <a:ea typeface="+mj-ea"/>
                <a:cs typeface="+mj-cs"/>
              </a:rPr>
              <a:t>Gross Profit Percentage/Year</a:t>
            </a:r>
          </a:p>
        </p:txBody>
      </p:sp>
      <p:pic>
        <p:nvPicPr>
          <p:cNvPr id="4" name="Content Placeholder 3">
            <a:extLst>
              <a:ext uri="{FF2B5EF4-FFF2-40B4-BE49-F238E27FC236}">
                <a16:creationId xmlns:a16="http://schemas.microsoft.com/office/drawing/2014/main" id="{96719F76-C3B8-9945-A396-B43DBC986946}"/>
              </a:ext>
            </a:extLst>
          </p:cNvPr>
          <p:cNvPicPr>
            <a:picLocks noGrp="1" noChangeAspect="1"/>
          </p:cNvPicPr>
          <p:nvPr>
            <p:ph idx="1"/>
          </p:nvPr>
        </p:nvPicPr>
        <p:blipFill>
          <a:blip r:embed="rId2"/>
          <a:stretch>
            <a:fillRect/>
          </a:stretch>
        </p:blipFill>
        <p:spPr>
          <a:xfrm>
            <a:off x="4225205" y="640080"/>
            <a:ext cx="7312993" cy="5578816"/>
          </a:xfrm>
          <a:prstGeom prst="rect">
            <a:avLst/>
          </a:prstGeom>
        </p:spPr>
      </p:pic>
      <p:sp>
        <p:nvSpPr>
          <p:cNvPr id="5" name="TextBox 4">
            <a:extLst>
              <a:ext uri="{FF2B5EF4-FFF2-40B4-BE49-F238E27FC236}">
                <a16:creationId xmlns:a16="http://schemas.microsoft.com/office/drawing/2014/main" id="{894622EE-FB85-4245-82EA-FFEFCCF2822B}"/>
              </a:ext>
            </a:extLst>
          </p:cNvPr>
          <p:cNvSpPr txBox="1"/>
          <p:nvPr/>
        </p:nvSpPr>
        <p:spPr>
          <a:xfrm>
            <a:off x="638175" y="3729789"/>
            <a:ext cx="3248025" cy="1200329"/>
          </a:xfrm>
          <a:prstGeom prst="rect">
            <a:avLst/>
          </a:prstGeom>
          <a:noFill/>
        </p:spPr>
        <p:txBody>
          <a:bodyPr wrap="square" rtlCol="0">
            <a:spAutoFit/>
          </a:bodyPr>
          <a:lstStyle/>
          <a:p>
            <a:r>
              <a:rPr lang="en-US" dirty="0"/>
              <a:t>We can see that Yellow Cab company has double the profit percentage average per year than Pink Cab</a:t>
            </a:r>
          </a:p>
        </p:txBody>
      </p:sp>
    </p:spTree>
    <p:extLst>
      <p:ext uri="{BB962C8B-B14F-4D97-AF65-F5344CB8AC3E}">
        <p14:creationId xmlns:p14="http://schemas.microsoft.com/office/powerpoint/2010/main" val="4096145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Gross Profit Percentage Per City</a:t>
            </a:r>
          </a:p>
        </p:txBody>
      </p:sp>
      <p:pic>
        <p:nvPicPr>
          <p:cNvPr id="4" name="Content Placeholder 3">
            <a:extLst>
              <a:ext uri="{FF2B5EF4-FFF2-40B4-BE49-F238E27FC236}">
                <a16:creationId xmlns:a16="http://schemas.microsoft.com/office/drawing/2014/main" id="{696EC66E-8DCE-6541-AEC1-E24BD81EC0A2}"/>
              </a:ext>
            </a:extLst>
          </p:cNvPr>
          <p:cNvPicPr>
            <a:picLocks noGrp="1" noChangeAspect="1"/>
          </p:cNvPicPr>
          <p:nvPr>
            <p:ph idx="1"/>
          </p:nvPr>
        </p:nvPicPr>
        <p:blipFill>
          <a:blip r:embed="rId3"/>
          <a:stretch>
            <a:fillRect/>
          </a:stretch>
        </p:blipFill>
        <p:spPr>
          <a:xfrm>
            <a:off x="4777316" y="774887"/>
            <a:ext cx="6780700" cy="5305896"/>
          </a:xfrm>
          <a:prstGeom prst="rect">
            <a:avLst/>
          </a:prstGeom>
        </p:spPr>
      </p:pic>
      <p:sp>
        <p:nvSpPr>
          <p:cNvPr id="5" name="TextBox 4">
            <a:extLst>
              <a:ext uri="{FF2B5EF4-FFF2-40B4-BE49-F238E27FC236}">
                <a16:creationId xmlns:a16="http://schemas.microsoft.com/office/drawing/2014/main" id="{D3A4D028-1380-5A4D-9FA4-FB203A077C5F}"/>
              </a:ext>
            </a:extLst>
          </p:cNvPr>
          <p:cNvSpPr txBox="1"/>
          <p:nvPr/>
        </p:nvSpPr>
        <p:spPr>
          <a:xfrm>
            <a:off x="717422" y="5113421"/>
            <a:ext cx="3499104" cy="1754326"/>
          </a:xfrm>
          <a:prstGeom prst="rect">
            <a:avLst/>
          </a:prstGeom>
          <a:noFill/>
        </p:spPr>
        <p:txBody>
          <a:bodyPr wrap="square" rtlCol="0">
            <a:spAutoFit/>
          </a:bodyPr>
          <a:lstStyle/>
          <a:p>
            <a:r>
              <a:rPr lang="en-US" dirty="0"/>
              <a:t>Here, we can see the gross profit average per city from each company, we can see that the Yellow Cab company has better gross profit percentage in every city but Tucson, Az.</a:t>
            </a:r>
          </a:p>
        </p:txBody>
      </p:sp>
    </p:spTree>
    <p:extLst>
      <p:ext uri="{BB962C8B-B14F-4D97-AF65-F5344CB8AC3E}">
        <p14:creationId xmlns:p14="http://schemas.microsoft.com/office/powerpoint/2010/main" val="19710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Average Profit per KM daily</a:t>
            </a:r>
          </a:p>
        </p:txBody>
      </p:sp>
      <p:pic>
        <p:nvPicPr>
          <p:cNvPr id="6" name="Content Placeholder 5">
            <a:extLst>
              <a:ext uri="{FF2B5EF4-FFF2-40B4-BE49-F238E27FC236}">
                <a16:creationId xmlns:a16="http://schemas.microsoft.com/office/drawing/2014/main" id="{39C93EB6-6709-8E44-BEBD-44665BE65A2E}"/>
              </a:ext>
            </a:extLst>
          </p:cNvPr>
          <p:cNvPicPr>
            <a:picLocks noGrp="1" noChangeAspect="1"/>
          </p:cNvPicPr>
          <p:nvPr>
            <p:ph idx="1"/>
          </p:nvPr>
        </p:nvPicPr>
        <p:blipFill>
          <a:blip r:embed="rId3"/>
          <a:stretch>
            <a:fillRect/>
          </a:stretch>
        </p:blipFill>
        <p:spPr>
          <a:xfrm>
            <a:off x="1074057" y="1675227"/>
            <a:ext cx="10043886" cy="4394199"/>
          </a:xfrm>
          <a:prstGeom prst="rect">
            <a:avLst/>
          </a:prstGeom>
        </p:spPr>
      </p:pic>
      <p:sp>
        <p:nvSpPr>
          <p:cNvPr id="9" name="TextBox 8">
            <a:extLst>
              <a:ext uri="{FF2B5EF4-FFF2-40B4-BE49-F238E27FC236}">
                <a16:creationId xmlns:a16="http://schemas.microsoft.com/office/drawing/2014/main" id="{F42CE57A-9CD0-EC45-87F8-FBA4556EF9F2}"/>
              </a:ext>
            </a:extLst>
          </p:cNvPr>
          <p:cNvSpPr txBox="1"/>
          <p:nvPr/>
        </p:nvSpPr>
        <p:spPr>
          <a:xfrm>
            <a:off x="1755648" y="6135624"/>
            <a:ext cx="7863840" cy="646331"/>
          </a:xfrm>
          <a:prstGeom prst="rect">
            <a:avLst/>
          </a:prstGeom>
          <a:noFill/>
        </p:spPr>
        <p:txBody>
          <a:bodyPr wrap="square" rtlCol="0">
            <a:spAutoFit/>
          </a:bodyPr>
          <a:lstStyle/>
          <a:p>
            <a:r>
              <a:rPr lang="en-US" dirty="0"/>
              <a:t>Here, we can see the average profit per km daily(from Monday through Sunday).</a:t>
            </a:r>
          </a:p>
          <a:p>
            <a:r>
              <a:rPr lang="en-US" dirty="0"/>
              <a:t>We can see that the days the companies gain more profit is on Saturdays.</a:t>
            </a:r>
          </a:p>
        </p:txBody>
      </p:sp>
    </p:spTree>
    <p:extLst>
      <p:ext uri="{BB962C8B-B14F-4D97-AF65-F5344CB8AC3E}">
        <p14:creationId xmlns:p14="http://schemas.microsoft.com/office/powerpoint/2010/main" val="432509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F8684409-31EF-E14E-8933-4B568A91F61A}"/>
              </a:ext>
            </a:extLst>
          </p:cNvPr>
          <p:cNvPicPr>
            <a:picLocks noGrp="1" noChangeAspect="1"/>
          </p:cNvPicPr>
          <p:nvPr>
            <p:ph idx="1"/>
          </p:nvPr>
        </p:nvPicPr>
        <p:blipFill>
          <a:blip r:embed="rId2"/>
          <a:stretch>
            <a:fillRect/>
          </a:stretch>
        </p:blipFill>
        <p:spPr>
          <a:xfrm>
            <a:off x="2058995" y="643467"/>
            <a:ext cx="8074010" cy="5571066"/>
          </a:xfrm>
          <a:prstGeom prst="rect">
            <a:avLst/>
          </a:prstGeom>
        </p:spPr>
      </p:pic>
      <p:sp>
        <p:nvSpPr>
          <p:cNvPr id="5" name="TextBox 4">
            <a:extLst>
              <a:ext uri="{FF2B5EF4-FFF2-40B4-BE49-F238E27FC236}">
                <a16:creationId xmlns:a16="http://schemas.microsoft.com/office/drawing/2014/main" id="{91A4BEE7-3FC4-9049-92E9-81F6F1C97A1A}"/>
              </a:ext>
            </a:extLst>
          </p:cNvPr>
          <p:cNvSpPr txBox="1"/>
          <p:nvPr/>
        </p:nvSpPr>
        <p:spPr>
          <a:xfrm>
            <a:off x="667512" y="886968"/>
            <a:ext cx="1391483" cy="3416320"/>
          </a:xfrm>
          <a:prstGeom prst="rect">
            <a:avLst/>
          </a:prstGeom>
          <a:noFill/>
        </p:spPr>
        <p:txBody>
          <a:bodyPr wrap="square" rtlCol="0">
            <a:spAutoFit/>
          </a:bodyPr>
          <a:lstStyle/>
          <a:p>
            <a:r>
              <a:rPr lang="en-US" dirty="0"/>
              <a:t>Here, we can see that the month with the most Gross Profit for the Yellow Cab company is May, and for the Pink Cab company is December</a:t>
            </a:r>
          </a:p>
        </p:txBody>
      </p:sp>
    </p:spTree>
    <p:extLst>
      <p:ext uri="{BB962C8B-B14F-4D97-AF65-F5344CB8AC3E}">
        <p14:creationId xmlns:p14="http://schemas.microsoft.com/office/powerpoint/2010/main" val="83213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6000" kern="1200" dirty="0">
                <a:solidFill>
                  <a:srgbClr val="FFFFFF"/>
                </a:solidFill>
                <a:latin typeface="+mj-lt"/>
                <a:ea typeface="+mj-ea"/>
                <a:cs typeface="+mj-cs"/>
              </a:rPr>
              <a:t>Age group</a:t>
            </a:r>
          </a:p>
        </p:txBody>
      </p:sp>
    </p:spTree>
    <p:extLst>
      <p:ext uri="{BB962C8B-B14F-4D97-AF65-F5344CB8AC3E}">
        <p14:creationId xmlns:p14="http://schemas.microsoft.com/office/powerpoint/2010/main" val="1334088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rPr>
              <a:t>Age Group for </a:t>
            </a:r>
            <a:r>
              <a:rPr lang="en-US" sz="2600" kern="1200" dirty="0" err="1">
                <a:solidFill>
                  <a:srgbClr val="FFFFFF"/>
                </a:solidFill>
                <a:latin typeface="+mj-lt"/>
                <a:ea typeface="+mj-ea"/>
                <a:cs typeface="+mj-cs"/>
              </a:rPr>
              <a:t>GrossProfit</a:t>
            </a:r>
            <a:endParaRPr lang="en-US" sz="2600" kern="1200" dirty="0">
              <a:solidFill>
                <a:srgbClr val="FFFFFF"/>
              </a:solidFill>
              <a:latin typeface="+mj-lt"/>
              <a:ea typeface="+mj-ea"/>
              <a:cs typeface="+mj-cs"/>
            </a:endParaRPr>
          </a:p>
        </p:txBody>
      </p:sp>
      <p:pic>
        <p:nvPicPr>
          <p:cNvPr id="4" name="Content Placeholder 3">
            <a:extLst>
              <a:ext uri="{FF2B5EF4-FFF2-40B4-BE49-F238E27FC236}">
                <a16:creationId xmlns:a16="http://schemas.microsoft.com/office/drawing/2014/main" id="{18930CB7-58A0-AB4E-84DD-C335021623C9}"/>
              </a:ext>
            </a:extLst>
          </p:cNvPr>
          <p:cNvPicPr>
            <a:picLocks noGrp="1" noChangeAspect="1"/>
          </p:cNvPicPr>
          <p:nvPr>
            <p:ph idx="1"/>
          </p:nvPr>
        </p:nvPicPr>
        <p:blipFill>
          <a:blip r:embed="rId2"/>
          <a:stretch>
            <a:fillRect/>
          </a:stretch>
        </p:blipFill>
        <p:spPr>
          <a:xfrm>
            <a:off x="5209231" y="961812"/>
            <a:ext cx="4846936" cy="4930987"/>
          </a:xfrm>
          <a:prstGeom prst="rect">
            <a:avLst/>
          </a:prstGeom>
        </p:spPr>
      </p:pic>
      <p:sp>
        <p:nvSpPr>
          <p:cNvPr id="5" name="TextBox 4">
            <a:extLst>
              <a:ext uri="{FF2B5EF4-FFF2-40B4-BE49-F238E27FC236}">
                <a16:creationId xmlns:a16="http://schemas.microsoft.com/office/drawing/2014/main" id="{F9ECBB5A-A7AC-0E4A-8F0D-23BF5A260C81}"/>
              </a:ext>
            </a:extLst>
          </p:cNvPr>
          <p:cNvSpPr txBox="1"/>
          <p:nvPr/>
        </p:nvSpPr>
        <p:spPr>
          <a:xfrm>
            <a:off x="2690037" y="287079"/>
            <a:ext cx="2519194" cy="1754326"/>
          </a:xfrm>
          <a:prstGeom prst="rect">
            <a:avLst/>
          </a:prstGeom>
          <a:noFill/>
        </p:spPr>
        <p:txBody>
          <a:bodyPr wrap="square" rtlCol="0">
            <a:spAutoFit/>
          </a:bodyPr>
          <a:lstStyle/>
          <a:p>
            <a:r>
              <a:rPr lang="en-US" dirty="0"/>
              <a:t>The age group for the whole data set are mostly people within 18-27 years old with a 32. 56%, followed by 27-36 years old with 28.04%.</a:t>
            </a:r>
          </a:p>
        </p:txBody>
      </p:sp>
    </p:spTree>
    <p:extLst>
      <p:ext uri="{BB962C8B-B14F-4D97-AF65-F5344CB8AC3E}">
        <p14:creationId xmlns:p14="http://schemas.microsoft.com/office/powerpoint/2010/main" val="69255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614141FC-8189-47F8-821A-FC9A4E91E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Rectangle 49">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8" y="510047"/>
            <a:ext cx="3300984" cy="1645920"/>
          </a:xfrm>
        </p:spPr>
        <p:txBody>
          <a:bodyPr>
            <a:normAutofit/>
          </a:bodyPr>
          <a:lstStyle/>
          <a:p>
            <a:r>
              <a:rPr lang="en-US" sz="2800" dirty="0"/>
              <a:t>% of users through the years.</a:t>
            </a:r>
          </a:p>
        </p:txBody>
      </p:sp>
      <p:sp>
        <p:nvSpPr>
          <p:cNvPr id="52" name="Rectangle 51">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981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581144" y="510047"/>
            <a:ext cx="6858000" cy="1645920"/>
          </a:xfrm>
        </p:spPr>
        <p:txBody>
          <a:bodyPr anchor="ctr">
            <a:normAutofit/>
          </a:bodyPr>
          <a:lstStyle/>
          <a:p>
            <a:r>
              <a:rPr lang="en-US" sz="1800" dirty="0"/>
              <a:t>% of Number of people through the years within different group ages.</a:t>
            </a:r>
          </a:p>
          <a:p>
            <a:r>
              <a:rPr lang="en-US" sz="1800" dirty="0"/>
              <a:t>We can see that in 2018, the amount of people within 36-46 years old increased by .36% for the Yellow Cab company.</a:t>
            </a:r>
          </a:p>
        </p:txBody>
      </p:sp>
      <p:pic>
        <p:nvPicPr>
          <p:cNvPr id="7" name="Picture 6">
            <a:extLst>
              <a:ext uri="{FF2B5EF4-FFF2-40B4-BE49-F238E27FC236}">
                <a16:creationId xmlns:a16="http://schemas.microsoft.com/office/drawing/2014/main" id="{6BDCD080-FADB-FA44-ADEC-D2A4E54082F9}"/>
              </a:ext>
            </a:extLst>
          </p:cNvPr>
          <p:cNvPicPr>
            <a:picLocks noChangeAspect="1"/>
          </p:cNvPicPr>
          <p:nvPr/>
        </p:nvPicPr>
        <p:blipFill rotWithShape="1">
          <a:blip r:embed="rId2"/>
          <a:srcRect l="16203" r="7402" b="-3"/>
          <a:stretch/>
        </p:blipFill>
        <p:spPr>
          <a:xfrm>
            <a:off x="4142232" y="2617201"/>
            <a:ext cx="3913747" cy="3639312"/>
          </a:xfrm>
          <a:prstGeom prst="rect">
            <a:avLst/>
          </a:prstGeom>
        </p:spPr>
      </p:pic>
      <p:pic>
        <p:nvPicPr>
          <p:cNvPr id="8" name="Picture 7">
            <a:extLst>
              <a:ext uri="{FF2B5EF4-FFF2-40B4-BE49-F238E27FC236}">
                <a16:creationId xmlns:a16="http://schemas.microsoft.com/office/drawing/2014/main" id="{7786C706-644C-3144-A3D6-39DE4DEEA13F}"/>
              </a:ext>
            </a:extLst>
          </p:cNvPr>
          <p:cNvPicPr>
            <a:picLocks noChangeAspect="1"/>
          </p:cNvPicPr>
          <p:nvPr/>
        </p:nvPicPr>
        <p:blipFill rotWithShape="1">
          <a:blip r:embed="rId3"/>
          <a:srcRect l="6477" t="3616" r="2" b="1642"/>
          <a:stretch/>
        </p:blipFill>
        <p:spPr>
          <a:xfrm>
            <a:off x="8657863" y="2798177"/>
            <a:ext cx="3352240" cy="3639312"/>
          </a:xfrm>
          <a:prstGeom prst="rect">
            <a:avLst/>
          </a:prstGeom>
        </p:spPr>
      </p:pic>
      <p:pic>
        <p:nvPicPr>
          <p:cNvPr id="4" name="Picture 3">
            <a:extLst>
              <a:ext uri="{FF2B5EF4-FFF2-40B4-BE49-F238E27FC236}">
                <a16:creationId xmlns:a16="http://schemas.microsoft.com/office/drawing/2014/main" id="{86DF4D9C-8D0F-EC4C-A45B-1CFC5CD035EE}"/>
              </a:ext>
            </a:extLst>
          </p:cNvPr>
          <p:cNvPicPr>
            <a:picLocks noChangeAspect="1"/>
          </p:cNvPicPr>
          <p:nvPr/>
        </p:nvPicPr>
        <p:blipFill rotWithShape="1">
          <a:blip r:embed="rId4"/>
          <a:srcRect l="8117" r="3560" b="-2"/>
          <a:stretch/>
        </p:blipFill>
        <p:spPr>
          <a:xfrm>
            <a:off x="181897" y="2708641"/>
            <a:ext cx="3584448" cy="3639312"/>
          </a:xfrm>
          <a:prstGeom prst="rect">
            <a:avLst/>
          </a:prstGeom>
        </p:spPr>
      </p:pic>
    </p:spTree>
    <p:extLst>
      <p:ext uri="{BB962C8B-B14F-4D97-AF65-F5344CB8AC3E}">
        <p14:creationId xmlns:p14="http://schemas.microsoft.com/office/powerpoint/2010/main" val="521395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8E89D5E-1885-4160-AC77-CC471DD1D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550D2BD1-98F9-412D-905B-3A843EF407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5216" y="2971800"/>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10D6FC52-AE0E-8546-AC45-72F688111249}"/>
              </a:ext>
            </a:extLst>
          </p:cNvPr>
          <p:cNvPicPr>
            <a:picLocks noChangeAspect="1"/>
          </p:cNvPicPr>
          <p:nvPr/>
        </p:nvPicPr>
        <p:blipFill rotWithShape="1">
          <a:blip r:embed="rId2"/>
          <a:srcRect t="42902"/>
          <a:stretch/>
        </p:blipFill>
        <p:spPr>
          <a:xfrm>
            <a:off x="4691877" y="238125"/>
            <a:ext cx="4636008" cy="5467350"/>
          </a:xfrm>
          <a:prstGeom prst="rect">
            <a:avLst/>
          </a:prstGeom>
        </p:spPr>
      </p:pic>
      <p:pic>
        <p:nvPicPr>
          <p:cNvPr id="14" name="Picture 13">
            <a:extLst>
              <a:ext uri="{FF2B5EF4-FFF2-40B4-BE49-F238E27FC236}">
                <a16:creationId xmlns:a16="http://schemas.microsoft.com/office/drawing/2014/main" id="{CDCFB434-5D5A-6342-B091-96B84ABC29C9}"/>
              </a:ext>
            </a:extLst>
          </p:cNvPr>
          <p:cNvPicPr>
            <a:picLocks noChangeAspect="1"/>
          </p:cNvPicPr>
          <p:nvPr/>
        </p:nvPicPr>
        <p:blipFill rotWithShape="1">
          <a:blip r:embed="rId2"/>
          <a:srcRect r="20497" b="57098"/>
          <a:stretch/>
        </p:blipFill>
        <p:spPr>
          <a:xfrm>
            <a:off x="8504809" y="1207083"/>
            <a:ext cx="3101975" cy="3529434"/>
          </a:xfrm>
          <a:prstGeom prst="rect">
            <a:avLst/>
          </a:prstGeom>
        </p:spPr>
      </p:pic>
      <p:sp>
        <p:nvSpPr>
          <p:cNvPr id="2" name="Title 1"/>
          <p:cNvSpPr>
            <a:spLocks noGrp="1"/>
          </p:cNvSpPr>
          <p:nvPr>
            <p:ph type="title"/>
          </p:nvPr>
        </p:nvSpPr>
        <p:spPr>
          <a:xfrm>
            <a:off x="943277" y="712269"/>
            <a:ext cx="3370998" cy="5502264"/>
          </a:xfrm>
        </p:spPr>
        <p:txBody>
          <a:bodyPr vert="horz" lIns="91440" tIns="45720" rIns="91440" bIns="45720" rtlCol="0">
            <a:normAutofit/>
          </a:bodyPr>
          <a:lstStyle/>
          <a:p>
            <a:r>
              <a:rPr lang="en-US" kern="1200" dirty="0">
                <a:solidFill>
                  <a:srgbClr val="FFFFFF"/>
                </a:solidFill>
                <a:latin typeface="+mj-lt"/>
                <a:ea typeface="+mj-ea"/>
                <a:cs typeface="+mj-cs"/>
              </a:rPr>
              <a:t>Amount of people per city divided by gender</a:t>
            </a:r>
          </a:p>
        </p:txBody>
      </p:sp>
      <p:pic>
        <p:nvPicPr>
          <p:cNvPr id="6" name="Picture 5">
            <a:extLst>
              <a:ext uri="{FF2B5EF4-FFF2-40B4-BE49-F238E27FC236}">
                <a16:creationId xmlns:a16="http://schemas.microsoft.com/office/drawing/2014/main" id="{B806F4D8-81D8-ED47-AFA8-0B5A92B5741E}"/>
              </a:ext>
            </a:extLst>
          </p:cNvPr>
          <p:cNvPicPr>
            <a:picLocks noChangeAspect="1"/>
          </p:cNvPicPr>
          <p:nvPr/>
        </p:nvPicPr>
        <p:blipFill>
          <a:blip r:embed="rId3"/>
          <a:stretch>
            <a:fillRect/>
          </a:stretch>
        </p:blipFill>
        <p:spPr>
          <a:xfrm>
            <a:off x="8990072" y="4586307"/>
            <a:ext cx="2526737" cy="1064609"/>
          </a:xfrm>
          <a:prstGeom prst="rect">
            <a:avLst/>
          </a:prstGeom>
        </p:spPr>
      </p:pic>
      <p:sp>
        <p:nvSpPr>
          <p:cNvPr id="7" name="TextBox 6">
            <a:extLst>
              <a:ext uri="{FF2B5EF4-FFF2-40B4-BE49-F238E27FC236}">
                <a16:creationId xmlns:a16="http://schemas.microsoft.com/office/drawing/2014/main" id="{D8F3456F-0C09-5542-A958-BD81D3295944}"/>
              </a:ext>
            </a:extLst>
          </p:cNvPr>
          <p:cNvSpPr txBox="1"/>
          <p:nvPr/>
        </p:nvSpPr>
        <p:spPr>
          <a:xfrm>
            <a:off x="5220183" y="6065134"/>
            <a:ext cx="6386602" cy="646331"/>
          </a:xfrm>
          <a:prstGeom prst="rect">
            <a:avLst/>
          </a:prstGeom>
          <a:noFill/>
        </p:spPr>
        <p:txBody>
          <a:bodyPr wrap="square" rtlCol="0">
            <a:spAutoFit/>
          </a:bodyPr>
          <a:lstStyle/>
          <a:p>
            <a:r>
              <a:rPr lang="en-US" dirty="0"/>
              <a:t>In the following graphs we can see the amount of people each city has divided by  gender.</a:t>
            </a:r>
          </a:p>
        </p:txBody>
      </p:sp>
    </p:spTree>
    <p:extLst>
      <p:ext uri="{BB962C8B-B14F-4D97-AF65-F5344CB8AC3E}">
        <p14:creationId xmlns:p14="http://schemas.microsoft.com/office/powerpoint/2010/main" val="2086544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9CEF4FD2-A194-4E5A-98E9-432046A2500E}"/>
              </a:ext>
            </a:extLst>
          </p:cNvPr>
          <p:cNvSpPr>
            <a:spLocks noGrp="1"/>
          </p:cNvSpPr>
          <p:nvPr>
            <p:ph idx="1"/>
          </p:nvPr>
        </p:nvSpPr>
        <p:spPr>
          <a:xfrm>
            <a:off x="966951" y="3355130"/>
            <a:ext cx="4062249" cy="2959945"/>
          </a:xfrm>
        </p:spPr>
        <p:txBody>
          <a:bodyPr>
            <a:normAutofit fontScale="92500"/>
          </a:bodyPr>
          <a:lstStyle/>
          <a:p>
            <a:r>
              <a:rPr lang="en-US" sz="2400" dirty="0"/>
              <a:t>In the following graph we show the % total amount of unique users (no duplicates) for each city, we can see that In most cities Yellow Cab Company predominates over the Pink Company, except on cities like Sacramento CA, Sand Diego CA and Nashville TN.</a:t>
            </a:r>
          </a:p>
        </p:txBody>
      </p:sp>
      <p:pic>
        <p:nvPicPr>
          <p:cNvPr id="4" name="Content Placeholder 3">
            <a:extLst>
              <a:ext uri="{FF2B5EF4-FFF2-40B4-BE49-F238E27FC236}">
                <a16:creationId xmlns:a16="http://schemas.microsoft.com/office/drawing/2014/main" id="{2115096B-F889-8549-B719-B057F141CFA6}"/>
              </a:ext>
            </a:extLst>
          </p:cNvPr>
          <p:cNvPicPr>
            <a:picLocks noChangeAspect="1"/>
          </p:cNvPicPr>
          <p:nvPr/>
        </p:nvPicPr>
        <p:blipFill>
          <a:blip r:embed="rId2"/>
          <a:stretch>
            <a:fillRect/>
          </a:stretch>
        </p:blipFill>
        <p:spPr>
          <a:xfrm>
            <a:off x="5984111" y="419624"/>
            <a:ext cx="5903089" cy="6438376"/>
          </a:xfrm>
          <a:prstGeom prst="rect">
            <a:avLst/>
          </a:prstGeom>
        </p:spPr>
      </p:pic>
      <p:sp>
        <p:nvSpPr>
          <p:cNvPr id="5" name="TextBox 4">
            <a:extLst>
              <a:ext uri="{FF2B5EF4-FFF2-40B4-BE49-F238E27FC236}">
                <a16:creationId xmlns:a16="http://schemas.microsoft.com/office/drawing/2014/main" id="{D6FF2E94-5EFE-2743-92B3-E55425EE2E03}"/>
              </a:ext>
            </a:extLst>
          </p:cNvPr>
          <p:cNvSpPr txBox="1"/>
          <p:nvPr/>
        </p:nvSpPr>
        <p:spPr>
          <a:xfrm>
            <a:off x="1157468" y="1145894"/>
            <a:ext cx="2384385" cy="1754326"/>
          </a:xfrm>
          <a:prstGeom prst="rect">
            <a:avLst/>
          </a:prstGeom>
          <a:noFill/>
        </p:spPr>
        <p:txBody>
          <a:bodyPr wrap="square" rtlCol="0">
            <a:spAutoFit/>
          </a:bodyPr>
          <a:lstStyle/>
          <a:p>
            <a:r>
              <a:rPr lang="en-US" sz="3600" dirty="0">
                <a:solidFill>
                  <a:schemeClr val="bg1"/>
                </a:solidFill>
              </a:rPr>
              <a:t>Unique User % Per City</a:t>
            </a:r>
          </a:p>
        </p:txBody>
      </p:sp>
    </p:spTree>
    <p:extLst>
      <p:ext uri="{BB962C8B-B14F-4D97-AF65-F5344CB8AC3E}">
        <p14:creationId xmlns:p14="http://schemas.microsoft.com/office/powerpoint/2010/main" val="791931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4E90-59D8-B443-9597-4574DECEBA7E}"/>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DDCF47A2-E472-CE42-BF96-E6E60669A330}"/>
              </a:ext>
            </a:extLst>
          </p:cNvPr>
          <p:cNvSpPr>
            <a:spLocks noGrp="1"/>
          </p:cNvSpPr>
          <p:nvPr>
            <p:ph idx="1"/>
          </p:nvPr>
        </p:nvSpPr>
        <p:spPr/>
        <p:txBody>
          <a:bodyPr/>
          <a:lstStyle/>
          <a:p>
            <a:r>
              <a:rPr lang="en-US" dirty="0"/>
              <a:t>Following the previous analysis about both cab companies we can see clearly that the Yellow Cab company is a much better investment, since it has better profits, gross profits, not only per year but in most cities, the Yellow Cab Company also has the most users in every city, which makes him a better candidate to grow.</a:t>
            </a:r>
          </a:p>
        </p:txBody>
      </p:sp>
    </p:spTree>
    <p:extLst>
      <p:ext uri="{BB962C8B-B14F-4D97-AF65-F5344CB8AC3E}">
        <p14:creationId xmlns:p14="http://schemas.microsoft.com/office/powerpoint/2010/main" val="1979702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4413A-3986-6840-B221-C88A09AE7E6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611D51C-82A3-B145-836E-3F4C466B9B4C}"/>
              </a:ext>
            </a:extLst>
          </p:cNvPr>
          <p:cNvSpPr>
            <a:spLocks noGrp="1"/>
          </p:cNvSpPr>
          <p:nvPr>
            <p:ph idx="1"/>
          </p:nvPr>
        </p:nvSpPr>
        <p:spPr/>
        <p:txBody>
          <a:bodyPr/>
          <a:lstStyle/>
          <a:p>
            <a:r>
              <a:rPr lang="en-US" dirty="0"/>
              <a:t>GIT HUB REPOSITORY WITH JUPYTER NOTBEOOK:</a:t>
            </a:r>
          </a:p>
          <a:p>
            <a:r>
              <a:rPr lang="en-US" dirty="0">
                <a:hlinkClick r:id="rId2"/>
              </a:rPr>
              <a:t>https://github.com/LEON240196/DataGlacier/blob/main/Cabs/Cabs_project.ipynb</a:t>
            </a:r>
            <a:endParaRPr lang="en-US" dirty="0"/>
          </a:p>
          <a:p>
            <a:endParaRPr lang="en-US" dirty="0"/>
          </a:p>
        </p:txBody>
      </p:sp>
    </p:spTree>
    <p:extLst>
      <p:ext uri="{BB962C8B-B14F-4D97-AF65-F5344CB8AC3E}">
        <p14:creationId xmlns:p14="http://schemas.microsoft.com/office/powerpoint/2010/main" val="3301320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TotalTime>
  <Words>507</Words>
  <Application>Microsoft Macintosh PowerPoint</Application>
  <PresentationFormat>Widescreen</PresentationFormat>
  <Paragraphs>56</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G2M insight for Cab Investment firm</vt:lpstr>
      <vt:lpstr>Contents</vt:lpstr>
      <vt:lpstr>Data Exploration</vt:lpstr>
      <vt:lpstr>Profit Analysis</vt:lpstr>
      <vt:lpstr>Gross Profit Percentage/Year</vt:lpstr>
      <vt:lpstr>Gross Profit Percentage Per City</vt:lpstr>
      <vt:lpstr>Average Profit per KM daily</vt:lpstr>
      <vt:lpstr>PowerPoint Presentation</vt:lpstr>
      <vt:lpstr>Age group</vt:lpstr>
      <vt:lpstr>Age Group for GrossProfit</vt:lpstr>
      <vt:lpstr>% of users through the years.</vt:lpstr>
      <vt:lpstr>Amount of people per city divided by gender</vt:lpstr>
      <vt:lpstr>PowerPoint Presentation</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G2M insight for Cab Investment firm</dc:title>
  <dc:creator>Jaime Yussef León Contreras</dc:creator>
  <cp:lastModifiedBy>Jaime Yussef León Contreras</cp:lastModifiedBy>
  <cp:revision>6</cp:revision>
  <dcterms:created xsi:type="dcterms:W3CDTF">2021-03-08T01:30:19Z</dcterms:created>
  <dcterms:modified xsi:type="dcterms:W3CDTF">2021-03-08T02:32:56Z</dcterms:modified>
</cp:coreProperties>
</file>